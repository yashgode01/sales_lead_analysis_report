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3" r:id="rId4"/>
    <p:sldId id="259" r:id="rId5"/>
    <p:sldId id="258" r:id="rId6"/>
    <p:sldId id="270" r:id="rId7"/>
    <p:sldId id="269" r:id="rId8"/>
    <p:sldId id="260" r:id="rId9"/>
    <p:sldId id="264" r:id="rId10"/>
    <p:sldId id="265" r:id="rId11"/>
    <p:sldId id="266" r:id="rId12"/>
    <p:sldId id="267" r:id="rId13"/>
    <p:sldId id="268" r:id="rId14"/>
    <p:sldId id="272" r:id="rId15"/>
    <p:sldId id="271" r:id="rId16"/>
    <p:sldId id="262" r:id="rId17"/>
    <p:sldId id="26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15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esktop\BDA_Lead_Repor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Desktop\BDA_Lead_Repor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Desktop\BDA_Lead_Repor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dmin\Desktop\BDA_Lead_Repor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dmin\Desktop\BDA_Lead_Repor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dmin\Desktop\BDA_Lead_Repor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[BDA_Lead_Report.xlsx]Pivot!PivotTable7</c:name>
    <c:fmtId val="19"/>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LEADS</a:t>
            </a:r>
            <a:r>
              <a:rPr lang="en-US" b="1" baseline="0"/>
              <a:t> BY SOURCE</a:t>
            </a:r>
            <a:endParaRPr lang="en-US"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Pivot!$B$1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Pivot!$A$2:$A$9</c:f>
              <c:strCache>
                <c:ptCount val="7"/>
                <c:pt idx="0">
                  <c:v>Facebook Ads</c:v>
                </c:pt>
                <c:pt idx="1">
                  <c:v>Google Ads</c:v>
                </c:pt>
                <c:pt idx="2">
                  <c:v>Instagram</c:v>
                </c:pt>
                <c:pt idx="3">
                  <c:v>Justdial</c:v>
                </c:pt>
                <c:pt idx="4">
                  <c:v>LinkedIn</c:v>
                </c:pt>
                <c:pt idx="5">
                  <c:v>Referral</c:v>
                </c:pt>
                <c:pt idx="6">
                  <c:v>Website</c:v>
                </c:pt>
              </c:strCache>
            </c:strRef>
          </c:cat>
          <c:val>
            <c:numRef>
              <c:f>Pivot!$B$2:$B$9</c:f>
              <c:numCache>
                <c:formatCode>General</c:formatCode>
                <c:ptCount val="7"/>
                <c:pt idx="0">
                  <c:v>74</c:v>
                </c:pt>
                <c:pt idx="1">
                  <c:v>71</c:v>
                </c:pt>
                <c:pt idx="2">
                  <c:v>68</c:v>
                </c:pt>
                <c:pt idx="3">
                  <c:v>65</c:v>
                </c:pt>
                <c:pt idx="4">
                  <c:v>78</c:v>
                </c:pt>
                <c:pt idx="5">
                  <c:v>67</c:v>
                </c:pt>
                <c:pt idx="6">
                  <c:v>77</c:v>
                </c:pt>
              </c:numCache>
            </c:numRef>
          </c:val>
          <c:extLst>
            <c:ext xmlns:c16="http://schemas.microsoft.com/office/drawing/2014/chart" uri="{C3380CC4-5D6E-409C-BE32-E72D297353CC}">
              <c16:uniqueId val="{00000000-D08A-450D-8D01-1FFDFB6D7BFE}"/>
            </c:ext>
          </c:extLst>
        </c:ser>
        <c:dLbls>
          <c:dLblPos val="outEnd"/>
          <c:showLegendKey val="0"/>
          <c:showVal val="1"/>
          <c:showCatName val="0"/>
          <c:showSerName val="0"/>
          <c:showPercent val="0"/>
          <c:showBubbleSize val="0"/>
        </c:dLbls>
        <c:gapWidth val="219"/>
        <c:overlap val="-27"/>
        <c:axId val="734126527"/>
        <c:axId val="485310655"/>
      </c:barChart>
      <c:catAx>
        <c:axId val="7341265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5310655"/>
        <c:crosses val="autoZero"/>
        <c:auto val="1"/>
        <c:lblAlgn val="ctr"/>
        <c:lblOffset val="100"/>
        <c:noMultiLvlLbl val="0"/>
      </c:catAx>
      <c:valAx>
        <c:axId val="485310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41265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[BDA_Lead_Report.xlsx]Pivot!PivotTable8</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LEAD</a:t>
            </a:r>
            <a:r>
              <a:rPr lang="en-US" baseline="0"/>
              <a:t> STATUS DISTRIBUTION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5400">
            <a:solidFill>
              <a:schemeClr val="lt1"/>
            </a:solidFill>
          </a:ln>
          <a:effectLst/>
          <a:sp3d contourW="25400">
            <a:contourClr>
              <a:schemeClr val="lt1"/>
            </a:contourClr>
          </a:sp3d>
        </c:spPr>
      </c:pivotFmt>
      <c:pivotFmt>
        <c:idx val="3"/>
        <c:spPr>
          <a:solidFill>
            <a:schemeClr val="accent1"/>
          </a:solidFill>
          <a:ln w="25400">
            <a:solidFill>
              <a:schemeClr val="lt1"/>
            </a:solidFill>
          </a:ln>
          <a:effectLst/>
          <a:sp3d contourW="25400">
            <a:contourClr>
              <a:schemeClr val="lt1"/>
            </a:contourClr>
          </a:sp3d>
        </c:spPr>
      </c:pivotFmt>
      <c:pivotFmt>
        <c:idx val="4"/>
        <c:spPr>
          <a:solidFill>
            <a:schemeClr val="accent1"/>
          </a:solidFill>
          <a:ln w="25400">
            <a:solidFill>
              <a:schemeClr val="lt1"/>
            </a:solidFill>
          </a:ln>
          <a:effectLst/>
          <a:sp3d contourW="25400">
            <a:contourClr>
              <a:schemeClr val="lt1"/>
            </a:contourClr>
          </a:sp3d>
        </c:spPr>
      </c:pivotFmt>
      <c:pivotFmt>
        <c:idx val="5"/>
        <c:spPr>
          <a:solidFill>
            <a:schemeClr val="accent1"/>
          </a:solidFill>
          <a:ln w="25400">
            <a:solidFill>
              <a:schemeClr val="lt1"/>
            </a:solidFill>
          </a:ln>
          <a:effectLst/>
          <a:sp3d contourW="25400">
            <a:contourClr>
              <a:schemeClr val="lt1"/>
            </a:contourClr>
          </a:sp3d>
        </c:spPr>
      </c:pivotFmt>
      <c:pivotFmt>
        <c:idx val="6"/>
        <c:spPr>
          <a:solidFill>
            <a:schemeClr val="accent1"/>
          </a:solidFill>
          <a:ln w="25400">
            <a:solidFill>
              <a:schemeClr val="lt1"/>
            </a:solidFill>
          </a:ln>
          <a:effectLst/>
          <a:sp3d contourW="25400">
            <a:contourClr>
              <a:schemeClr val="lt1"/>
            </a:contourClr>
          </a:sp3d>
        </c:spPr>
      </c:pivotFmt>
      <c:pivotFmt>
        <c:idx val="7"/>
        <c:spPr>
          <a:solidFill>
            <a:schemeClr val="accent1"/>
          </a:solidFill>
          <a:ln w="25400">
            <a:solidFill>
              <a:schemeClr val="lt1"/>
            </a:solidFill>
          </a:ln>
          <a:effectLst/>
          <a:sp3d contourW="25400">
            <a:contourClr>
              <a:schemeClr val="lt1"/>
            </a:contourClr>
          </a:sp3d>
        </c:spPr>
      </c:pivotFmt>
      <c:pivotFmt>
        <c:idx val="8"/>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5400">
            <a:solidFill>
              <a:schemeClr val="lt1"/>
            </a:solidFill>
          </a:ln>
          <a:effectLst/>
          <a:sp3d contourW="25400">
            <a:contourClr>
              <a:schemeClr val="lt1"/>
            </a:contourClr>
          </a:sp3d>
        </c:spPr>
      </c:pivotFmt>
      <c:pivotFmt>
        <c:idx val="10"/>
        <c:spPr>
          <a:solidFill>
            <a:schemeClr val="accent1"/>
          </a:solidFill>
          <a:ln w="25400">
            <a:solidFill>
              <a:schemeClr val="lt1"/>
            </a:solidFill>
          </a:ln>
          <a:effectLst/>
          <a:sp3d contourW="25400">
            <a:contourClr>
              <a:schemeClr val="lt1"/>
            </a:contourClr>
          </a:sp3d>
        </c:spPr>
      </c:pivotFmt>
      <c:pivotFmt>
        <c:idx val="11"/>
        <c:spPr>
          <a:solidFill>
            <a:schemeClr val="accent1"/>
          </a:solidFill>
          <a:ln w="25400">
            <a:solidFill>
              <a:schemeClr val="lt1"/>
            </a:solidFill>
          </a:ln>
          <a:effectLst/>
          <a:sp3d contourW="25400">
            <a:contourClr>
              <a:schemeClr val="lt1"/>
            </a:contourClr>
          </a:sp3d>
        </c:spPr>
      </c:pivotFmt>
      <c:pivotFmt>
        <c:idx val="12"/>
        <c:spPr>
          <a:solidFill>
            <a:schemeClr val="accent1"/>
          </a:solidFill>
          <a:ln w="25400">
            <a:solidFill>
              <a:schemeClr val="lt1"/>
            </a:solidFill>
          </a:ln>
          <a:effectLst/>
          <a:sp3d contourW="25400">
            <a:contourClr>
              <a:schemeClr val="lt1"/>
            </a:contourClr>
          </a:sp3d>
        </c:spPr>
      </c:pivotFmt>
      <c:pivotFmt>
        <c:idx val="13"/>
        <c:spPr>
          <a:solidFill>
            <a:schemeClr val="accent1"/>
          </a:solidFill>
          <a:ln w="25400">
            <a:solidFill>
              <a:schemeClr val="lt1"/>
            </a:solidFill>
          </a:ln>
          <a:effectLst/>
          <a:sp3d contourW="25400">
            <a:contourClr>
              <a:schemeClr val="lt1"/>
            </a:contourClr>
          </a:sp3d>
        </c:spPr>
      </c:pivotFmt>
      <c:pivotFmt>
        <c:idx val="14"/>
        <c:spPr>
          <a:solidFill>
            <a:schemeClr val="accent1"/>
          </a:solidFill>
          <a:ln w="25400">
            <a:solidFill>
              <a:schemeClr val="lt1"/>
            </a:solidFill>
          </a:ln>
          <a:effectLst/>
          <a:sp3d contourW="25400">
            <a:contourClr>
              <a:schemeClr val="lt1"/>
            </a:contourClr>
          </a:sp3d>
        </c:spPr>
      </c:pivotFmt>
      <c:pivotFmt>
        <c:idx val="15"/>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5400">
            <a:solidFill>
              <a:schemeClr val="lt1"/>
            </a:solidFill>
          </a:ln>
          <a:effectLst/>
          <a:sp3d contourW="25400">
            <a:contourClr>
              <a:schemeClr val="lt1"/>
            </a:contourClr>
          </a:sp3d>
        </c:spPr>
      </c:pivotFmt>
      <c:pivotFmt>
        <c:idx val="17"/>
        <c:spPr>
          <a:solidFill>
            <a:schemeClr val="accent1"/>
          </a:solidFill>
          <a:ln w="25400">
            <a:solidFill>
              <a:schemeClr val="lt1"/>
            </a:solidFill>
          </a:ln>
          <a:effectLst/>
          <a:sp3d contourW="25400">
            <a:contourClr>
              <a:schemeClr val="lt1"/>
            </a:contourClr>
          </a:sp3d>
        </c:spPr>
      </c:pivotFmt>
      <c:pivotFmt>
        <c:idx val="18"/>
        <c:spPr>
          <a:solidFill>
            <a:schemeClr val="accent1"/>
          </a:solidFill>
          <a:ln w="25400">
            <a:solidFill>
              <a:schemeClr val="lt1"/>
            </a:solidFill>
          </a:ln>
          <a:effectLst/>
          <a:sp3d contourW="25400">
            <a:contourClr>
              <a:schemeClr val="lt1"/>
            </a:contourClr>
          </a:sp3d>
        </c:spPr>
      </c:pivotFmt>
      <c:pivotFmt>
        <c:idx val="19"/>
        <c:spPr>
          <a:solidFill>
            <a:schemeClr val="accent1"/>
          </a:solidFill>
          <a:ln w="25400">
            <a:solidFill>
              <a:schemeClr val="lt1"/>
            </a:solidFill>
          </a:ln>
          <a:effectLst/>
          <a:sp3d contourW="25400">
            <a:contourClr>
              <a:schemeClr val="lt1"/>
            </a:contourClr>
          </a:sp3d>
        </c:spPr>
      </c:pivotFmt>
      <c:pivotFmt>
        <c:idx val="20"/>
        <c:spPr>
          <a:solidFill>
            <a:schemeClr val="accent1"/>
          </a:solidFill>
          <a:ln w="25400">
            <a:solidFill>
              <a:schemeClr val="lt1"/>
            </a:solidFill>
          </a:ln>
          <a:effectLst/>
          <a:sp3d contourW="25400">
            <a:contourClr>
              <a:schemeClr val="lt1"/>
            </a:contourClr>
          </a:sp3d>
        </c:spPr>
      </c:pivotFmt>
      <c:pivotFmt>
        <c:idx val="21"/>
        <c:spPr>
          <a:solidFill>
            <a:schemeClr val="accent1"/>
          </a:solidFill>
          <a:ln w="25400">
            <a:solidFill>
              <a:schemeClr val="lt1"/>
            </a:solidFill>
          </a:ln>
          <a:effectLst/>
          <a:sp3d contourW="25400">
            <a:contourClr>
              <a:schemeClr val="lt1"/>
            </a:contourClr>
          </a:sp3d>
        </c:spPr>
      </c:pivotFmt>
      <c:pivotFmt>
        <c:idx val="22"/>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5400">
            <a:solidFill>
              <a:schemeClr val="lt1"/>
            </a:solidFill>
          </a:ln>
          <a:effectLst/>
          <a:sp3d contourW="25400">
            <a:contourClr>
              <a:schemeClr val="lt1"/>
            </a:contourClr>
          </a:sp3d>
        </c:spPr>
      </c:pivotFmt>
      <c:pivotFmt>
        <c:idx val="24"/>
        <c:spPr>
          <a:solidFill>
            <a:schemeClr val="accent1"/>
          </a:solidFill>
          <a:ln w="25400">
            <a:solidFill>
              <a:schemeClr val="lt1"/>
            </a:solidFill>
          </a:ln>
          <a:effectLst/>
          <a:sp3d contourW="25400">
            <a:contourClr>
              <a:schemeClr val="lt1"/>
            </a:contourClr>
          </a:sp3d>
        </c:spPr>
      </c:pivotFmt>
      <c:pivotFmt>
        <c:idx val="25"/>
        <c:spPr>
          <a:solidFill>
            <a:schemeClr val="accent1"/>
          </a:solidFill>
          <a:ln w="25400">
            <a:solidFill>
              <a:schemeClr val="lt1"/>
            </a:solidFill>
          </a:ln>
          <a:effectLst/>
          <a:sp3d contourW="25400">
            <a:contourClr>
              <a:schemeClr val="lt1"/>
            </a:contourClr>
          </a:sp3d>
        </c:spPr>
      </c:pivotFmt>
      <c:pivotFmt>
        <c:idx val="26"/>
        <c:spPr>
          <a:solidFill>
            <a:schemeClr val="accent1"/>
          </a:solidFill>
          <a:ln w="25400">
            <a:solidFill>
              <a:schemeClr val="lt1"/>
            </a:solidFill>
          </a:ln>
          <a:effectLst/>
          <a:sp3d contourW="25400">
            <a:contourClr>
              <a:schemeClr val="lt1"/>
            </a:contourClr>
          </a:sp3d>
        </c:spPr>
      </c:pivotFmt>
      <c:pivotFmt>
        <c:idx val="27"/>
        <c:spPr>
          <a:solidFill>
            <a:schemeClr val="accent1"/>
          </a:solidFill>
          <a:ln w="25400">
            <a:solidFill>
              <a:schemeClr val="lt1"/>
            </a:solidFill>
          </a:ln>
          <a:effectLst/>
          <a:sp3d contourW="25400">
            <a:contourClr>
              <a:schemeClr val="lt1"/>
            </a:contourClr>
          </a:sp3d>
        </c:spPr>
      </c:pivotFmt>
      <c:pivotFmt>
        <c:idx val="28"/>
        <c:spPr>
          <a:solidFill>
            <a:schemeClr val="accent1"/>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Pivot!$B$12</c:f>
              <c:strCache>
                <c:ptCount val="1"/>
                <c:pt idx="0">
                  <c:v>Total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E799-4ADD-B687-86C6E66F0E1C}"/>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E799-4ADD-B687-86C6E66F0E1C}"/>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E799-4ADD-B687-86C6E66F0E1C}"/>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E799-4ADD-B687-86C6E66F0E1C}"/>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E799-4ADD-B687-86C6E66F0E1C}"/>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E799-4ADD-B687-86C6E66F0E1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Pivot!$A$13:$A$19</c:f>
              <c:strCache>
                <c:ptCount val="6"/>
                <c:pt idx="0">
                  <c:v>Contacted</c:v>
                </c:pt>
                <c:pt idx="1">
                  <c:v>Converted</c:v>
                </c:pt>
                <c:pt idx="2">
                  <c:v>Follow-Up</c:v>
                </c:pt>
                <c:pt idx="3">
                  <c:v>Lost</c:v>
                </c:pt>
                <c:pt idx="4">
                  <c:v>New</c:v>
                </c:pt>
                <c:pt idx="5">
                  <c:v>Qualified</c:v>
                </c:pt>
              </c:strCache>
            </c:strRef>
          </c:cat>
          <c:val>
            <c:numRef>
              <c:f>Pivot!$B$13:$B$19</c:f>
              <c:numCache>
                <c:formatCode>0.00%</c:formatCode>
                <c:ptCount val="6"/>
                <c:pt idx="0">
                  <c:v>0.19</c:v>
                </c:pt>
                <c:pt idx="1">
                  <c:v>0.16800000000000001</c:v>
                </c:pt>
                <c:pt idx="2">
                  <c:v>0.16400000000000001</c:v>
                </c:pt>
                <c:pt idx="3">
                  <c:v>0.156</c:v>
                </c:pt>
                <c:pt idx="4">
                  <c:v>0.156</c:v>
                </c:pt>
                <c:pt idx="5">
                  <c:v>0.16600000000000001</c:v>
                </c:pt>
              </c:numCache>
            </c:numRef>
          </c:val>
          <c:extLst>
            <c:ext xmlns:c16="http://schemas.microsoft.com/office/drawing/2014/chart" uri="{C3380CC4-5D6E-409C-BE32-E72D297353CC}">
              <c16:uniqueId val="{0000000C-E799-4ADD-B687-86C6E66F0E1C}"/>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ysClr val="window" lastClr="FFFFFF"/>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[BDA_Lead_Report.xlsx]Pivot!PivotTable9</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Monthly</a:t>
            </a:r>
            <a:r>
              <a:rPr lang="en-US" baseline="0"/>
              <a:t> Lead Trend</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Pivot!$B$24</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Pivot!$A$25:$A$31</c:f>
              <c:strCache>
                <c:ptCount val="6"/>
                <c:pt idx="0">
                  <c:v>January</c:v>
                </c:pt>
                <c:pt idx="1">
                  <c:v>February</c:v>
                </c:pt>
                <c:pt idx="2">
                  <c:v>March</c:v>
                </c:pt>
                <c:pt idx="3">
                  <c:v>April</c:v>
                </c:pt>
                <c:pt idx="4">
                  <c:v>May</c:v>
                </c:pt>
                <c:pt idx="5">
                  <c:v>June</c:v>
                </c:pt>
              </c:strCache>
            </c:strRef>
          </c:cat>
          <c:val>
            <c:numRef>
              <c:f>Pivot!$B$25:$B$31</c:f>
              <c:numCache>
                <c:formatCode>General</c:formatCode>
                <c:ptCount val="6"/>
                <c:pt idx="0">
                  <c:v>87</c:v>
                </c:pt>
                <c:pt idx="1">
                  <c:v>76</c:v>
                </c:pt>
                <c:pt idx="2">
                  <c:v>79</c:v>
                </c:pt>
                <c:pt idx="3">
                  <c:v>92</c:v>
                </c:pt>
                <c:pt idx="4">
                  <c:v>92</c:v>
                </c:pt>
                <c:pt idx="5">
                  <c:v>74</c:v>
                </c:pt>
              </c:numCache>
            </c:numRef>
          </c:val>
          <c:smooth val="0"/>
          <c:extLst>
            <c:ext xmlns:c16="http://schemas.microsoft.com/office/drawing/2014/chart" uri="{C3380CC4-5D6E-409C-BE32-E72D297353CC}">
              <c16:uniqueId val="{00000000-CE9F-400F-822D-37FDDC2C68E8}"/>
            </c:ext>
          </c:extLst>
        </c:ser>
        <c:dLbls>
          <c:dLblPos val="t"/>
          <c:showLegendKey val="0"/>
          <c:showVal val="1"/>
          <c:showCatName val="0"/>
          <c:showSerName val="0"/>
          <c:showPercent val="0"/>
          <c:showBubbleSize val="0"/>
        </c:dLbls>
        <c:marker val="1"/>
        <c:smooth val="0"/>
        <c:axId val="931258911"/>
        <c:axId val="931249311"/>
      </c:lineChart>
      <c:catAx>
        <c:axId val="931258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1249311"/>
        <c:crosses val="autoZero"/>
        <c:auto val="1"/>
        <c:lblAlgn val="ctr"/>
        <c:lblOffset val="100"/>
        <c:noMultiLvlLbl val="0"/>
      </c:catAx>
      <c:valAx>
        <c:axId val="93124931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12589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[BDA_Lead_Report.xlsx]Pivot!PivotTable10</c:name>
    <c:fmtId val="1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LEADS</a:t>
            </a:r>
            <a:r>
              <a:rPr lang="en-US" baseline="0"/>
              <a:t> BY CITY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Pivot!$B$36</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Pivot!$A$37:$A$47</c:f>
              <c:strCache>
                <c:ptCount val="10"/>
                <c:pt idx="0">
                  <c:v>Ahmedabad</c:v>
                </c:pt>
                <c:pt idx="1">
                  <c:v>Bangalore</c:v>
                </c:pt>
                <c:pt idx="2">
                  <c:v>Chennai</c:v>
                </c:pt>
                <c:pt idx="3">
                  <c:v>Delhi</c:v>
                </c:pt>
                <c:pt idx="4">
                  <c:v>Hyderabad</c:v>
                </c:pt>
                <c:pt idx="5">
                  <c:v>Indore</c:v>
                </c:pt>
                <c:pt idx="6">
                  <c:v>Jaipur</c:v>
                </c:pt>
                <c:pt idx="7">
                  <c:v>Mumbai</c:v>
                </c:pt>
                <c:pt idx="8">
                  <c:v>Nagpur</c:v>
                </c:pt>
                <c:pt idx="9">
                  <c:v>Pune</c:v>
                </c:pt>
              </c:strCache>
            </c:strRef>
          </c:cat>
          <c:val>
            <c:numRef>
              <c:f>Pivot!$B$37:$B$47</c:f>
              <c:numCache>
                <c:formatCode>General</c:formatCode>
                <c:ptCount val="10"/>
                <c:pt idx="0">
                  <c:v>40</c:v>
                </c:pt>
                <c:pt idx="1">
                  <c:v>53</c:v>
                </c:pt>
                <c:pt idx="2">
                  <c:v>53</c:v>
                </c:pt>
                <c:pt idx="3">
                  <c:v>62</c:v>
                </c:pt>
                <c:pt idx="4">
                  <c:v>56</c:v>
                </c:pt>
                <c:pt idx="5">
                  <c:v>44</c:v>
                </c:pt>
                <c:pt idx="6">
                  <c:v>43</c:v>
                </c:pt>
                <c:pt idx="7">
                  <c:v>46</c:v>
                </c:pt>
                <c:pt idx="8">
                  <c:v>56</c:v>
                </c:pt>
                <c:pt idx="9">
                  <c:v>47</c:v>
                </c:pt>
              </c:numCache>
            </c:numRef>
          </c:val>
          <c:extLst>
            <c:ext xmlns:c16="http://schemas.microsoft.com/office/drawing/2014/chart" uri="{C3380CC4-5D6E-409C-BE32-E72D297353CC}">
              <c16:uniqueId val="{00000000-A4CC-4D92-945D-A946973ABFDD}"/>
            </c:ext>
          </c:extLst>
        </c:ser>
        <c:dLbls>
          <c:dLblPos val="outEnd"/>
          <c:showLegendKey val="0"/>
          <c:showVal val="1"/>
          <c:showCatName val="0"/>
          <c:showSerName val="0"/>
          <c:showPercent val="0"/>
          <c:showBubbleSize val="0"/>
        </c:dLbls>
        <c:gapWidth val="219"/>
        <c:overlap val="-27"/>
        <c:axId val="931267551"/>
        <c:axId val="931248831"/>
      </c:barChart>
      <c:catAx>
        <c:axId val="931267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1248831"/>
        <c:crosses val="autoZero"/>
        <c:auto val="1"/>
        <c:lblAlgn val="ctr"/>
        <c:lblOffset val="100"/>
        <c:noMultiLvlLbl val="0"/>
      </c:catAx>
      <c:valAx>
        <c:axId val="93124883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126755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[BDA_Lead_Report.xlsx]Pivot!PivotTable11</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LEADS</a:t>
            </a:r>
            <a:r>
              <a:rPr lang="en-US" baseline="0"/>
              <a:t> BY PRODUCT INTEREST</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Pivot!$B$50</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Pivot!$A$51:$A$56</c:f>
              <c:strCache>
                <c:ptCount val="5"/>
                <c:pt idx="0">
                  <c:v>Advanced Excel Course</c:v>
                </c:pt>
                <c:pt idx="1">
                  <c:v>CRM Software</c:v>
                </c:pt>
                <c:pt idx="2">
                  <c:v>Digital Marketing Course</c:v>
                </c:pt>
                <c:pt idx="3">
                  <c:v>ERP Solution</c:v>
                </c:pt>
                <c:pt idx="4">
                  <c:v>Online MBA</c:v>
                </c:pt>
              </c:strCache>
            </c:strRef>
          </c:cat>
          <c:val>
            <c:numRef>
              <c:f>Pivot!$B$51:$B$56</c:f>
              <c:numCache>
                <c:formatCode>General</c:formatCode>
                <c:ptCount val="5"/>
                <c:pt idx="0">
                  <c:v>90</c:v>
                </c:pt>
                <c:pt idx="1">
                  <c:v>113</c:v>
                </c:pt>
                <c:pt idx="2">
                  <c:v>101</c:v>
                </c:pt>
                <c:pt idx="3">
                  <c:v>96</c:v>
                </c:pt>
                <c:pt idx="4">
                  <c:v>100</c:v>
                </c:pt>
              </c:numCache>
            </c:numRef>
          </c:val>
          <c:extLst>
            <c:ext xmlns:c16="http://schemas.microsoft.com/office/drawing/2014/chart" uri="{C3380CC4-5D6E-409C-BE32-E72D297353CC}">
              <c16:uniqueId val="{00000000-0A5D-4A46-B8B6-1A90360F22C5}"/>
            </c:ext>
          </c:extLst>
        </c:ser>
        <c:dLbls>
          <c:dLblPos val="outEnd"/>
          <c:showLegendKey val="0"/>
          <c:showVal val="1"/>
          <c:showCatName val="0"/>
          <c:showSerName val="0"/>
          <c:showPercent val="0"/>
          <c:showBubbleSize val="0"/>
        </c:dLbls>
        <c:gapWidth val="219"/>
        <c:overlap val="-27"/>
        <c:axId val="931293471"/>
        <c:axId val="931297791"/>
      </c:barChart>
      <c:catAx>
        <c:axId val="9312934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1297791"/>
        <c:crosses val="autoZero"/>
        <c:auto val="1"/>
        <c:lblAlgn val="ctr"/>
        <c:lblOffset val="100"/>
        <c:noMultiLvlLbl val="0"/>
      </c:catAx>
      <c:valAx>
        <c:axId val="93129779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129347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[BDA_Lead_Report.xlsx]Pivot!PivotTable12</c:name>
    <c:fmtId val="1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POTENTIAL</a:t>
            </a:r>
            <a:r>
              <a:rPr lang="en-US" baseline="0"/>
              <a:t> REVENUE BY PRODUCT (INR)</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Pivot!$B$62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Pivot!$A$63:$A$68</c:f>
              <c:strCache>
                <c:ptCount val="5"/>
                <c:pt idx="0">
                  <c:v>Advanced Excel Course</c:v>
                </c:pt>
                <c:pt idx="1">
                  <c:v>CRM Software</c:v>
                </c:pt>
                <c:pt idx="2">
                  <c:v>Digital Marketing Course</c:v>
                </c:pt>
                <c:pt idx="3">
                  <c:v>ERP Solution</c:v>
                </c:pt>
                <c:pt idx="4">
                  <c:v>Online MBA</c:v>
                </c:pt>
              </c:strCache>
            </c:strRef>
          </c:cat>
          <c:val>
            <c:numRef>
              <c:f>Pivot!$B$63:$B$68</c:f>
              <c:numCache>
                <c:formatCode>"₹"\ #,##0</c:formatCode>
                <c:ptCount val="5"/>
                <c:pt idx="0">
                  <c:v>12253240</c:v>
                </c:pt>
                <c:pt idx="1">
                  <c:v>14134761</c:v>
                </c:pt>
                <c:pt idx="2">
                  <c:v>13017769</c:v>
                </c:pt>
                <c:pt idx="3">
                  <c:v>12909442</c:v>
                </c:pt>
                <c:pt idx="4">
                  <c:v>11831778</c:v>
                </c:pt>
              </c:numCache>
            </c:numRef>
          </c:val>
          <c:extLst>
            <c:ext xmlns:c16="http://schemas.microsoft.com/office/drawing/2014/chart" uri="{C3380CC4-5D6E-409C-BE32-E72D297353CC}">
              <c16:uniqueId val="{00000000-F7BD-4740-8FF0-283FEF7A219E}"/>
            </c:ext>
          </c:extLst>
        </c:ser>
        <c:dLbls>
          <c:dLblPos val="outEnd"/>
          <c:showLegendKey val="0"/>
          <c:showVal val="1"/>
          <c:showCatName val="0"/>
          <c:showSerName val="0"/>
          <c:showPercent val="0"/>
          <c:showBubbleSize val="0"/>
        </c:dLbls>
        <c:gapWidth val="219"/>
        <c:overlap val="-27"/>
        <c:axId val="931280511"/>
        <c:axId val="931302591"/>
      </c:barChart>
      <c:catAx>
        <c:axId val="9312805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1302591"/>
        <c:crosses val="autoZero"/>
        <c:auto val="1"/>
        <c:lblAlgn val="ctr"/>
        <c:lblOffset val="100"/>
        <c:noMultiLvlLbl val="0"/>
      </c:catAx>
      <c:valAx>
        <c:axId val="931302591"/>
        <c:scaling>
          <c:orientation val="minMax"/>
        </c:scaling>
        <c:delete val="0"/>
        <c:axPos val="l"/>
        <c:numFmt formatCode="&quot;₹&quot;\ #,##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12805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sz="4000" b="1" dirty="0"/>
              <a:t>Sales Lead Dashboard</a:t>
            </a:r>
          </a:p>
        </p:txBody>
      </p:sp>
      <p:sp>
        <p:nvSpPr>
          <p:cNvPr id="4" name="TextBox 3">
            <a:extLst>
              <a:ext uri="{FF2B5EF4-FFF2-40B4-BE49-F238E27FC236}">
                <a16:creationId xmlns:a16="http://schemas.microsoft.com/office/drawing/2014/main" id="{14EA5AAC-D641-C141-6154-19239C4C98F8}"/>
              </a:ext>
            </a:extLst>
          </p:cNvPr>
          <p:cNvSpPr txBox="1"/>
          <p:nvPr/>
        </p:nvSpPr>
        <p:spPr>
          <a:xfrm>
            <a:off x="0" y="6478624"/>
            <a:ext cx="9144000" cy="369332"/>
          </a:xfrm>
          <a:prstGeom prst="rect">
            <a:avLst/>
          </a:prstGeom>
          <a:solidFill>
            <a:schemeClr val="tx1"/>
          </a:solidFill>
        </p:spPr>
        <p:txBody>
          <a:bodyPr wrap="square" rtlCol="0">
            <a:spAutoFit/>
          </a:bodyPr>
          <a:lstStyle/>
          <a:p>
            <a:pPr algn="ctr"/>
            <a:r>
              <a:rPr lang="en-IN" dirty="0">
                <a:solidFill>
                  <a:schemeClr val="bg1"/>
                </a:solidFill>
              </a:rPr>
              <a:t>Created By: Yash Gode</a:t>
            </a:r>
          </a:p>
        </p:txBody>
      </p:sp>
      <p:sp>
        <p:nvSpPr>
          <p:cNvPr id="6" name="Subtitle 5">
            <a:extLst>
              <a:ext uri="{FF2B5EF4-FFF2-40B4-BE49-F238E27FC236}">
                <a16:creationId xmlns:a16="http://schemas.microsoft.com/office/drawing/2014/main" id="{35972E28-F5A9-52B8-65C5-FFB233D07908}"/>
              </a:ext>
            </a:extLst>
          </p:cNvPr>
          <p:cNvSpPr>
            <a:spLocks noGrp="1"/>
          </p:cNvSpPr>
          <p:nvPr>
            <p:ph type="subTitle" idx="1"/>
          </p:nvPr>
        </p:nvSpPr>
        <p:spPr>
          <a:xfrm>
            <a:off x="-1040859" y="3266470"/>
            <a:ext cx="6400800" cy="1752600"/>
          </a:xfrm>
        </p:spPr>
        <p:txBody>
          <a:bodyPr>
            <a:normAutofit/>
          </a:bodyPr>
          <a:lstStyle/>
          <a:p>
            <a:r>
              <a:rPr lang="en-US" sz="2800" b="1" dirty="0">
                <a:solidFill>
                  <a:schemeClr val="tx1"/>
                </a:solidFill>
              </a:rPr>
              <a:t>                                  - Created in Excel</a:t>
            </a:r>
            <a:endParaRPr lang="en-IN" sz="28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6085"/>
            <a:ext cx="8229600" cy="1143000"/>
          </a:xfrm>
        </p:spPr>
        <p:txBody>
          <a:bodyPr>
            <a:normAutofit/>
          </a:bodyPr>
          <a:lstStyle/>
          <a:p>
            <a:r>
              <a:rPr sz="3600" dirty="0"/>
              <a:t>Introduction</a:t>
            </a:r>
          </a:p>
        </p:txBody>
      </p:sp>
      <p:sp>
        <p:nvSpPr>
          <p:cNvPr id="3" name="Content Placeholder 2"/>
          <p:cNvSpPr>
            <a:spLocks noGrp="1"/>
          </p:cNvSpPr>
          <p:nvPr>
            <p:ph idx="1"/>
          </p:nvPr>
        </p:nvSpPr>
        <p:spPr>
          <a:xfrm>
            <a:off x="457200" y="2120629"/>
            <a:ext cx="8229600" cy="4005533"/>
          </a:xfrm>
        </p:spPr>
        <p:txBody>
          <a:bodyPr>
            <a:normAutofit/>
          </a:bodyPr>
          <a:lstStyle/>
          <a:p>
            <a:pPr marL="0" indent="0">
              <a:buNone/>
            </a:pPr>
            <a:r>
              <a:rPr lang="en-IN" sz="2000" dirty="0"/>
              <a:t>This project focuses on the analysis of lead management and sales performance using a dataset of customer leads. The objective is to transform raw lead data into meaningful business insights through data cleaning, KPI tracking, analysis and interactive dashboard creation. The report evaluates key sales metrics such as lead generation, lead conversion, revenue potential and source performance to support data-driven decision-making. By </a:t>
            </a:r>
            <a:r>
              <a:rPr lang="en-IN" sz="2000" dirty="0" err="1"/>
              <a:t>analyzing</a:t>
            </a:r>
            <a:r>
              <a:rPr lang="en-IN" sz="2000" dirty="0"/>
              <a:t> customer acquisition channels, lead status and revenue opportunities the dashboard helps identify areas for improving sales effectiveness and business growth.</a:t>
            </a:r>
          </a:p>
          <a:p>
            <a:pPr marL="0" indent="0">
              <a:buNone/>
            </a:pP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0E01-C3F0-D300-2679-980AFDF84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215D7-76B1-75FC-F6D6-C8285F4133A4}"/>
              </a:ext>
            </a:extLst>
          </p:cNvPr>
          <p:cNvSpPr>
            <a:spLocks noGrp="1"/>
          </p:cNvSpPr>
          <p:nvPr>
            <p:ph type="title"/>
          </p:nvPr>
        </p:nvSpPr>
        <p:spPr>
          <a:xfrm>
            <a:off x="457200" y="306085"/>
            <a:ext cx="8229600" cy="1143000"/>
          </a:xfrm>
        </p:spPr>
        <p:txBody>
          <a:bodyPr>
            <a:normAutofit/>
          </a:bodyPr>
          <a:lstStyle/>
          <a:p>
            <a:r>
              <a:rPr lang="en-US" sz="3600" dirty="0"/>
              <a:t>Dataset Information</a:t>
            </a:r>
            <a:endParaRPr sz="3600" dirty="0"/>
          </a:p>
        </p:txBody>
      </p:sp>
      <p:sp>
        <p:nvSpPr>
          <p:cNvPr id="3" name="Content Placeholder 2">
            <a:extLst>
              <a:ext uri="{FF2B5EF4-FFF2-40B4-BE49-F238E27FC236}">
                <a16:creationId xmlns:a16="http://schemas.microsoft.com/office/drawing/2014/main" id="{D740CFE0-4283-E760-E770-5B8940376D6C}"/>
              </a:ext>
            </a:extLst>
          </p:cNvPr>
          <p:cNvSpPr>
            <a:spLocks noGrp="1"/>
          </p:cNvSpPr>
          <p:nvPr>
            <p:ph idx="1"/>
          </p:nvPr>
        </p:nvSpPr>
        <p:spPr>
          <a:xfrm>
            <a:off x="1361872" y="1964987"/>
            <a:ext cx="7042826" cy="4161176"/>
          </a:xfrm>
        </p:spPr>
        <p:txBody>
          <a:bodyPr>
            <a:normAutofit/>
          </a:bodyPr>
          <a:lstStyle/>
          <a:p>
            <a:pPr marL="0" indent="0">
              <a:buNone/>
            </a:pPr>
            <a:r>
              <a:rPr lang="en-US" sz="2000" dirty="0"/>
              <a:t>1.     T</a:t>
            </a:r>
            <a:r>
              <a:rPr lang="en-IN" sz="2000" dirty="0" err="1"/>
              <a:t>otal</a:t>
            </a:r>
            <a:r>
              <a:rPr lang="en-IN" sz="2000" dirty="0"/>
              <a:t> Records: 501</a:t>
            </a:r>
          </a:p>
          <a:p>
            <a:pPr marL="457200" indent="-457200">
              <a:buAutoNum type="arabicPeriod" startAt="2"/>
            </a:pPr>
            <a:r>
              <a:rPr lang="en-IN" sz="2000" dirty="0"/>
              <a:t>Total Number of Columns: 11</a:t>
            </a:r>
          </a:p>
          <a:p>
            <a:pPr marL="457200" indent="-457200">
              <a:buAutoNum type="arabicPeriod" startAt="2"/>
            </a:pPr>
            <a:r>
              <a:rPr lang="en-IN" sz="2000" dirty="0"/>
              <a:t>Data Source: www.Kaggle.com</a:t>
            </a:r>
            <a:endParaRPr sz="2000" dirty="0"/>
          </a:p>
        </p:txBody>
      </p:sp>
    </p:spTree>
    <p:extLst>
      <p:ext uri="{BB962C8B-B14F-4D97-AF65-F5344CB8AC3E}">
        <p14:creationId xmlns:p14="http://schemas.microsoft.com/office/powerpoint/2010/main" val="3592134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DATA CLEANING PROCESS</a:t>
            </a:r>
          </a:p>
        </p:txBody>
      </p:sp>
      <p:sp>
        <p:nvSpPr>
          <p:cNvPr id="3" name="Content Placeholder 2"/>
          <p:cNvSpPr>
            <a:spLocks noGrp="1"/>
          </p:cNvSpPr>
          <p:nvPr>
            <p:ph idx="1"/>
          </p:nvPr>
        </p:nvSpPr>
        <p:spPr/>
        <p:txBody>
          <a:bodyPr>
            <a:normAutofit/>
          </a:bodyPr>
          <a:lstStyle/>
          <a:p>
            <a:r>
              <a:rPr lang="en-IN" sz="2000" dirty="0"/>
              <a:t>Removed the duplicate leads from the Lead_ID Column.</a:t>
            </a:r>
          </a:p>
          <a:p>
            <a:r>
              <a:rPr lang="en-IN" sz="2000" dirty="0"/>
              <a:t>Removed Extra Spaces using “TRIM” function and Converted text into “PROPER” function.</a:t>
            </a:r>
          </a:p>
          <a:p>
            <a:r>
              <a:rPr lang="en-IN" sz="2000" dirty="0"/>
              <a:t>Converted </a:t>
            </a:r>
            <a:r>
              <a:rPr lang="en-IN" sz="2000" dirty="0" err="1"/>
              <a:t>Lead_Date</a:t>
            </a:r>
            <a:r>
              <a:rPr lang="en-IN" sz="2000" dirty="0"/>
              <a:t> into Proper date format using cell formatting.</a:t>
            </a:r>
          </a:p>
          <a:p>
            <a:r>
              <a:rPr lang="en-IN" sz="2000" dirty="0"/>
              <a:t>Added a new column ‘Month’ by using Text function.</a:t>
            </a:r>
          </a:p>
          <a:p>
            <a:r>
              <a:rPr lang="en-IN" sz="2000" dirty="0"/>
              <a:t>Added new column ‘Lead Age’ by using Today function.</a:t>
            </a:r>
          </a:p>
          <a:p>
            <a:r>
              <a:rPr lang="en-IN" sz="2000" dirty="0"/>
              <a:t>Added new column ‘Revenue Category’ by using IF function.</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Key </a:t>
            </a:r>
            <a:r>
              <a:rPr lang="en-IN" sz="3600" dirty="0"/>
              <a:t>Cards</a:t>
            </a:r>
            <a:endParaRPr sz="3600" dirty="0"/>
          </a:p>
        </p:txBody>
      </p:sp>
      <p:sp>
        <p:nvSpPr>
          <p:cNvPr id="3" name="Content Placeholder 2"/>
          <p:cNvSpPr>
            <a:spLocks noGrp="1"/>
          </p:cNvSpPr>
          <p:nvPr>
            <p:ph idx="1"/>
          </p:nvPr>
        </p:nvSpPr>
        <p:spPr/>
        <p:txBody>
          <a:bodyPr>
            <a:normAutofit lnSpcReduction="10000"/>
          </a:bodyPr>
          <a:lstStyle/>
          <a:p>
            <a:r>
              <a:rPr lang="en-IN" sz="2400" dirty="0"/>
              <a:t>Total Leads</a:t>
            </a:r>
          </a:p>
          <a:p>
            <a:r>
              <a:rPr lang="en-IN" sz="2400" dirty="0"/>
              <a:t>New Leads </a:t>
            </a:r>
          </a:p>
          <a:p>
            <a:r>
              <a:rPr lang="en-IN" sz="2400" dirty="0"/>
              <a:t>Qualified Leads </a:t>
            </a:r>
          </a:p>
          <a:p>
            <a:r>
              <a:rPr lang="en-IN" sz="2400" dirty="0"/>
              <a:t>Follow-Up Leads </a:t>
            </a:r>
          </a:p>
          <a:p>
            <a:r>
              <a:rPr lang="en-IN" sz="2400" dirty="0"/>
              <a:t>Converted Leads </a:t>
            </a:r>
          </a:p>
          <a:p>
            <a:r>
              <a:rPr lang="en-IN" sz="2400" dirty="0"/>
              <a:t>Lost Leads </a:t>
            </a:r>
          </a:p>
          <a:p>
            <a:r>
              <a:rPr lang="en-IN" sz="2400" dirty="0"/>
              <a:t>Conversion Rate </a:t>
            </a:r>
          </a:p>
          <a:p>
            <a:r>
              <a:rPr lang="en-IN" sz="2400" dirty="0"/>
              <a:t>Potential Revenue </a:t>
            </a:r>
          </a:p>
          <a:p>
            <a:r>
              <a:rPr lang="en-IN" sz="2400" dirty="0"/>
              <a:t>Converted Revenue </a:t>
            </a:r>
          </a:p>
          <a:p>
            <a:r>
              <a:rPr lang="en-IN" sz="2400" dirty="0"/>
              <a:t>Average Deal Size</a:t>
            </a:r>
          </a:p>
          <a:p>
            <a:r>
              <a:rPr lang="en-IN" sz="2400" dirty="0"/>
              <a:t>Lead Age</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2C6C2-8E0C-C854-DD9D-5EA0DDF44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6969B-AFFA-AD7A-BBE2-30E3D2A3EC4C}"/>
              </a:ext>
            </a:extLst>
          </p:cNvPr>
          <p:cNvSpPr>
            <a:spLocks noGrp="1"/>
          </p:cNvSpPr>
          <p:nvPr>
            <p:ph type="title"/>
          </p:nvPr>
        </p:nvSpPr>
        <p:spPr/>
        <p:txBody>
          <a:bodyPr>
            <a:normAutofit/>
          </a:bodyPr>
          <a:lstStyle/>
          <a:p>
            <a:r>
              <a:rPr lang="en-IN" sz="3200" dirty="0"/>
              <a:t>FORMULAS USED</a:t>
            </a:r>
          </a:p>
        </p:txBody>
      </p:sp>
      <p:sp>
        <p:nvSpPr>
          <p:cNvPr id="3" name="Content Placeholder 2">
            <a:extLst>
              <a:ext uri="{FF2B5EF4-FFF2-40B4-BE49-F238E27FC236}">
                <a16:creationId xmlns:a16="http://schemas.microsoft.com/office/drawing/2014/main" id="{65034231-5F42-E684-08B2-CFBB81FB7941}"/>
              </a:ext>
            </a:extLst>
          </p:cNvPr>
          <p:cNvSpPr>
            <a:spLocks noGrp="1"/>
          </p:cNvSpPr>
          <p:nvPr>
            <p:ph idx="1"/>
          </p:nvPr>
        </p:nvSpPr>
        <p:spPr/>
        <p:txBody>
          <a:bodyPr>
            <a:normAutofit/>
          </a:bodyPr>
          <a:lstStyle/>
          <a:p>
            <a:pPr marL="457200" indent="-457200">
              <a:buFont typeface="+mj-lt"/>
              <a:buAutoNum type="arabicPeriod"/>
            </a:pPr>
            <a:r>
              <a:rPr lang="en-IN" sz="2000" dirty="0"/>
              <a:t>To find the ‘Conversion Rate’ KPI Card the above formula is used</a:t>
            </a:r>
          </a:p>
          <a:p>
            <a:pPr marL="0" indent="0">
              <a:buNone/>
            </a:pPr>
            <a:r>
              <a:rPr lang="en-IN" sz="2000" dirty="0"/>
              <a:t>=    Converted Leads ÷ Total Leads × 100</a:t>
            </a:r>
          </a:p>
          <a:p>
            <a:pPr marL="0" indent="0">
              <a:buNone/>
            </a:pPr>
            <a:endParaRPr lang="en-IN" sz="2000" dirty="0"/>
          </a:p>
          <a:p>
            <a:pPr marL="0" indent="0">
              <a:buNone/>
            </a:pPr>
            <a:r>
              <a:rPr lang="en-IN" sz="2000" dirty="0"/>
              <a:t>2.     To find the ‘Average Deal Size’ KPI Card the above formula is used</a:t>
            </a:r>
          </a:p>
          <a:p>
            <a:pPr marL="0" indent="0">
              <a:buNone/>
            </a:pPr>
            <a:r>
              <a:rPr lang="en-IN" sz="2000" dirty="0"/>
              <a:t>=    Converted Revenue / Converted Leads</a:t>
            </a:r>
          </a:p>
          <a:p>
            <a:pPr>
              <a:buFont typeface="Arial" panose="020B0604020202020204" pitchFamily="34" charset="0"/>
              <a:buChar char="•"/>
            </a:pPr>
            <a:endParaRPr lang="en-IN" sz="2000" dirty="0"/>
          </a:p>
          <a:p>
            <a:pPr>
              <a:buFont typeface="Arial" panose="020B0604020202020204" pitchFamily="34" charset="0"/>
              <a:buChar char="•"/>
            </a:pPr>
            <a:endParaRPr lang="en-IN" sz="2000" dirty="0"/>
          </a:p>
          <a:p>
            <a:pPr marL="0" indent="0">
              <a:buNone/>
            </a:pPr>
            <a:endParaRPr lang="en-IN" sz="2000" dirty="0"/>
          </a:p>
          <a:p>
            <a:pPr marL="0" indent="0">
              <a:buNone/>
            </a:pPr>
            <a:endParaRPr sz="2000" dirty="0"/>
          </a:p>
        </p:txBody>
      </p:sp>
    </p:spTree>
    <p:extLst>
      <p:ext uri="{BB962C8B-B14F-4D97-AF65-F5344CB8AC3E}">
        <p14:creationId xmlns:p14="http://schemas.microsoft.com/office/powerpoint/2010/main" val="1352269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1097-FEC9-C452-A34C-3F7DEFD7B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B129F-9702-D3DF-F816-213E9E8F84B9}"/>
              </a:ext>
            </a:extLst>
          </p:cNvPr>
          <p:cNvSpPr>
            <a:spLocks noGrp="1"/>
          </p:cNvSpPr>
          <p:nvPr>
            <p:ph type="title"/>
          </p:nvPr>
        </p:nvSpPr>
        <p:spPr/>
        <p:txBody>
          <a:bodyPr>
            <a:normAutofit/>
          </a:bodyPr>
          <a:lstStyle/>
          <a:p>
            <a:r>
              <a:rPr lang="en-IN" sz="3200" dirty="0"/>
              <a:t>KPI WITH CHARTS</a:t>
            </a:r>
            <a:endParaRPr sz="3200" dirty="0"/>
          </a:p>
        </p:txBody>
      </p:sp>
      <p:sp>
        <p:nvSpPr>
          <p:cNvPr id="3" name="Content Placeholder 2">
            <a:extLst>
              <a:ext uri="{FF2B5EF4-FFF2-40B4-BE49-F238E27FC236}">
                <a16:creationId xmlns:a16="http://schemas.microsoft.com/office/drawing/2014/main" id="{065411AD-BE97-02F0-4CC6-DF0961493D92}"/>
              </a:ext>
            </a:extLst>
          </p:cNvPr>
          <p:cNvSpPr>
            <a:spLocks noGrp="1"/>
          </p:cNvSpPr>
          <p:nvPr>
            <p:ph idx="1"/>
          </p:nvPr>
        </p:nvSpPr>
        <p:spPr/>
        <p:txBody>
          <a:bodyPr>
            <a:normAutofit/>
          </a:bodyPr>
          <a:lstStyle/>
          <a:p>
            <a:r>
              <a:rPr lang="en-IN" sz="2400" dirty="0"/>
              <a:t>Leads by Source</a:t>
            </a:r>
          </a:p>
          <a:p>
            <a:r>
              <a:rPr lang="en-IN" sz="2400" dirty="0"/>
              <a:t>Lead Status Distribution</a:t>
            </a:r>
          </a:p>
          <a:p>
            <a:r>
              <a:rPr lang="en-IN" sz="2400" dirty="0"/>
              <a:t>Monthly Lead Trend</a:t>
            </a:r>
          </a:p>
          <a:p>
            <a:r>
              <a:rPr lang="en-IN" sz="2400" dirty="0"/>
              <a:t>Leads by City</a:t>
            </a:r>
          </a:p>
          <a:p>
            <a:r>
              <a:rPr lang="en-IN" sz="2400" dirty="0"/>
              <a:t>Leads by Product</a:t>
            </a:r>
          </a:p>
          <a:p>
            <a:r>
              <a:rPr lang="en-IN" sz="2400" dirty="0"/>
              <a:t>Revenue by Product</a:t>
            </a:r>
            <a:endParaRPr sz="2400" dirty="0"/>
          </a:p>
        </p:txBody>
      </p:sp>
    </p:spTree>
    <p:extLst>
      <p:ext uri="{BB962C8B-B14F-4D97-AF65-F5344CB8AC3E}">
        <p14:creationId xmlns:p14="http://schemas.microsoft.com/office/powerpoint/2010/main" val="4170554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LEADS BY SOURCE</a:t>
            </a:r>
            <a:endParaRPr sz="2800" b="1" dirty="0"/>
          </a:p>
        </p:txBody>
      </p:sp>
      <p:sp>
        <p:nvSpPr>
          <p:cNvPr id="3" name="Content Placeholder 2"/>
          <p:cNvSpPr>
            <a:spLocks noGrp="1"/>
          </p:cNvSpPr>
          <p:nvPr>
            <p:ph idx="1"/>
          </p:nvPr>
        </p:nvSpPr>
        <p:spPr>
          <a:xfrm>
            <a:off x="457200" y="1493196"/>
            <a:ext cx="8229600" cy="2670243"/>
          </a:xfrm>
        </p:spPr>
        <p:txBody>
          <a:bodyPr>
            <a:normAutofit fontScale="92500" lnSpcReduction="20000"/>
          </a:bodyPr>
          <a:lstStyle/>
          <a:p>
            <a:r>
              <a:rPr lang="en-IN" sz="2400" dirty="0"/>
              <a:t>This chart shows the distribution of leads across different acquisition channels. It helps identify which marketing sources generate the highest number of leads. By understanding source performance, the business can focus its efforts and budget on the most effective channels.</a:t>
            </a:r>
          </a:p>
          <a:p>
            <a:r>
              <a:rPr lang="en-IN" sz="2400" dirty="0"/>
              <a:t>Website and LinkedIn generated the highest number of leads, indicating strong digital marketing performance. Justdial leads were lower in volume but may offer better quality and conversion opportunities.</a:t>
            </a:r>
            <a:endParaRPr sz="2400" dirty="0"/>
          </a:p>
        </p:txBody>
      </p:sp>
      <p:graphicFrame>
        <p:nvGraphicFramePr>
          <p:cNvPr id="4" name="Chart 3">
            <a:extLst>
              <a:ext uri="{FF2B5EF4-FFF2-40B4-BE49-F238E27FC236}">
                <a16:creationId xmlns:a16="http://schemas.microsoft.com/office/drawing/2014/main" id="{3DF69D95-5200-4208-9B65-C6B3AF63F441}"/>
              </a:ext>
            </a:extLst>
          </p:cNvPr>
          <p:cNvGraphicFramePr>
            <a:graphicFrameLocks/>
          </p:cNvGraphicFramePr>
          <p:nvPr>
            <p:extLst>
              <p:ext uri="{D42A27DB-BD31-4B8C-83A1-F6EECF244321}">
                <p14:modId xmlns:p14="http://schemas.microsoft.com/office/powerpoint/2010/main" val="860277086"/>
              </p:ext>
            </p:extLst>
          </p:nvPr>
        </p:nvGraphicFramePr>
        <p:xfrm>
          <a:off x="1702340" y="4163439"/>
          <a:ext cx="5642043" cy="2626467"/>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B44F9-E936-9DEB-7E7C-18F9752D1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75A8A-451B-9335-6CA4-4C6263789A88}"/>
              </a:ext>
            </a:extLst>
          </p:cNvPr>
          <p:cNvSpPr>
            <a:spLocks noGrp="1"/>
          </p:cNvSpPr>
          <p:nvPr>
            <p:ph type="title"/>
          </p:nvPr>
        </p:nvSpPr>
        <p:spPr/>
        <p:txBody>
          <a:bodyPr>
            <a:normAutofit/>
          </a:bodyPr>
          <a:lstStyle/>
          <a:p>
            <a:r>
              <a:rPr lang="en-IN" sz="2800" b="1" dirty="0"/>
              <a:t>LEADS STATUS DISTRIBUTION</a:t>
            </a:r>
            <a:endParaRPr sz="2800" b="1" dirty="0"/>
          </a:p>
        </p:txBody>
      </p:sp>
      <p:sp>
        <p:nvSpPr>
          <p:cNvPr id="3" name="Content Placeholder 2">
            <a:extLst>
              <a:ext uri="{FF2B5EF4-FFF2-40B4-BE49-F238E27FC236}">
                <a16:creationId xmlns:a16="http://schemas.microsoft.com/office/drawing/2014/main" id="{6DDE011B-8C1E-08C3-C0C7-44F1D6AC0255}"/>
              </a:ext>
            </a:extLst>
          </p:cNvPr>
          <p:cNvSpPr>
            <a:spLocks noGrp="1"/>
          </p:cNvSpPr>
          <p:nvPr>
            <p:ph idx="1"/>
          </p:nvPr>
        </p:nvSpPr>
        <p:spPr>
          <a:xfrm>
            <a:off x="457200" y="1493196"/>
            <a:ext cx="8229600" cy="2670243"/>
          </a:xfrm>
        </p:spPr>
        <p:txBody>
          <a:bodyPr>
            <a:normAutofit lnSpcReduction="10000"/>
          </a:bodyPr>
          <a:lstStyle/>
          <a:p>
            <a:r>
              <a:rPr lang="en-IN" sz="2400" dirty="0"/>
              <a:t>This chart represents the current status of all leads in the sales pipeline. It helps track lead progression and identify bottlenecks in the conversion process.</a:t>
            </a:r>
          </a:p>
          <a:p>
            <a:r>
              <a:rPr lang="en-IN" sz="2400" dirty="0"/>
              <a:t>A large number of leads are currently in the Follow-Up stage, indicating future conversion opportunities. The Lost Leads segment highlights areas where sales strategies can be improved.</a:t>
            </a:r>
            <a:endParaRPr sz="2400" dirty="0"/>
          </a:p>
        </p:txBody>
      </p:sp>
      <p:graphicFrame>
        <p:nvGraphicFramePr>
          <p:cNvPr id="5" name="Chart 4">
            <a:extLst>
              <a:ext uri="{FF2B5EF4-FFF2-40B4-BE49-F238E27FC236}">
                <a16:creationId xmlns:a16="http://schemas.microsoft.com/office/drawing/2014/main" id="{C6C1EA75-43D5-41A6-9564-D0303603D525}"/>
              </a:ext>
            </a:extLst>
          </p:cNvPr>
          <p:cNvGraphicFramePr>
            <a:graphicFrameLocks/>
          </p:cNvGraphicFramePr>
          <p:nvPr>
            <p:extLst>
              <p:ext uri="{D42A27DB-BD31-4B8C-83A1-F6EECF244321}">
                <p14:modId xmlns:p14="http://schemas.microsoft.com/office/powerpoint/2010/main" val="2791597892"/>
              </p:ext>
            </p:extLst>
          </p:nvPr>
        </p:nvGraphicFramePr>
        <p:xfrm>
          <a:off x="1959394" y="4093077"/>
          <a:ext cx="5225212" cy="255188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6384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4A63-A6D5-DDDB-93B6-B22B639AA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463AD-7417-724C-E08F-0800D5DF787A}"/>
              </a:ext>
            </a:extLst>
          </p:cNvPr>
          <p:cNvSpPr>
            <a:spLocks noGrp="1"/>
          </p:cNvSpPr>
          <p:nvPr>
            <p:ph type="title"/>
          </p:nvPr>
        </p:nvSpPr>
        <p:spPr/>
        <p:txBody>
          <a:bodyPr>
            <a:normAutofit/>
          </a:bodyPr>
          <a:lstStyle/>
          <a:p>
            <a:r>
              <a:rPr lang="en-IN" sz="2800" b="1" dirty="0"/>
              <a:t>MONTHLY LEAD TREND</a:t>
            </a:r>
            <a:endParaRPr sz="2800" b="1" dirty="0"/>
          </a:p>
        </p:txBody>
      </p:sp>
      <p:sp>
        <p:nvSpPr>
          <p:cNvPr id="3" name="Content Placeholder 2">
            <a:extLst>
              <a:ext uri="{FF2B5EF4-FFF2-40B4-BE49-F238E27FC236}">
                <a16:creationId xmlns:a16="http://schemas.microsoft.com/office/drawing/2014/main" id="{FBEB7159-DC9A-7D6E-F754-4E217969BDFB}"/>
              </a:ext>
            </a:extLst>
          </p:cNvPr>
          <p:cNvSpPr>
            <a:spLocks noGrp="1"/>
          </p:cNvSpPr>
          <p:nvPr>
            <p:ph idx="1"/>
          </p:nvPr>
        </p:nvSpPr>
        <p:spPr>
          <a:xfrm>
            <a:off x="457200" y="1308368"/>
            <a:ext cx="8229600" cy="2670243"/>
          </a:xfrm>
        </p:spPr>
        <p:txBody>
          <a:bodyPr>
            <a:normAutofit/>
          </a:bodyPr>
          <a:lstStyle/>
          <a:p>
            <a:r>
              <a:rPr lang="en-IN" sz="2400" dirty="0"/>
              <a:t>This chart illustrates the trend of lead generation over time. It helps evaluate the effectiveness of marketing campaigns and seasonal demand patterns.</a:t>
            </a:r>
          </a:p>
          <a:p>
            <a:r>
              <a:rPr lang="en-IN" sz="2400" dirty="0"/>
              <a:t>Lead generation showed steady growth from January to June, suggesting increasing market interest and improved lead acquisition efforts.</a:t>
            </a:r>
            <a:endParaRPr sz="2400" dirty="0"/>
          </a:p>
        </p:txBody>
      </p:sp>
      <p:graphicFrame>
        <p:nvGraphicFramePr>
          <p:cNvPr id="4" name="Chart 3">
            <a:extLst>
              <a:ext uri="{FF2B5EF4-FFF2-40B4-BE49-F238E27FC236}">
                <a16:creationId xmlns:a16="http://schemas.microsoft.com/office/drawing/2014/main" id="{6F85A925-F27D-441C-9BB7-2F3BF00B1F79}"/>
              </a:ext>
            </a:extLst>
          </p:cNvPr>
          <p:cNvGraphicFramePr>
            <a:graphicFrameLocks/>
          </p:cNvGraphicFramePr>
          <p:nvPr>
            <p:extLst>
              <p:ext uri="{D42A27DB-BD31-4B8C-83A1-F6EECF244321}">
                <p14:modId xmlns:p14="http://schemas.microsoft.com/office/powerpoint/2010/main" val="1765093340"/>
              </p:ext>
            </p:extLst>
          </p:nvPr>
        </p:nvGraphicFramePr>
        <p:xfrm>
          <a:off x="1556427" y="4035762"/>
          <a:ext cx="5904688" cy="267024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52121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E7526-B7A6-4EB3-285B-518A6526E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3E6C2-F171-326D-8A68-A7DC3C8AF4ED}"/>
              </a:ext>
            </a:extLst>
          </p:cNvPr>
          <p:cNvSpPr>
            <a:spLocks noGrp="1"/>
          </p:cNvSpPr>
          <p:nvPr>
            <p:ph type="title"/>
          </p:nvPr>
        </p:nvSpPr>
        <p:spPr/>
        <p:txBody>
          <a:bodyPr>
            <a:normAutofit/>
          </a:bodyPr>
          <a:lstStyle/>
          <a:p>
            <a:r>
              <a:rPr lang="en-IN" sz="2800" b="1" dirty="0"/>
              <a:t>LEADS BY CITY</a:t>
            </a:r>
            <a:endParaRPr sz="2800" b="1" dirty="0"/>
          </a:p>
        </p:txBody>
      </p:sp>
      <p:sp>
        <p:nvSpPr>
          <p:cNvPr id="3" name="Content Placeholder 2">
            <a:extLst>
              <a:ext uri="{FF2B5EF4-FFF2-40B4-BE49-F238E27FC236}">
                <a16:creationId xmlns:a16="http://schemas.microsoft.com/office/drawing/2014/main" id="{EBEEC22D-B175-6410-3290-0DAD5A9FB463}"/>
              </a:ext>
            </a:extLst>
          </p:cNvPr>
          <p:cNvSpPr>
            <a:spLocks noGrp="1"/>
          </p:cNvSpPr>
          <p:nvPr>
            <p:ph idx="1"/>
          </p:nvPr>
        </p:nvSpPr>
        <p:spPr>
          <a:xfrm>
            <a:off x="457200" y="1308368"/>
            <a:ext cx="8229600" cy="2670243"/>
          </a:xfrm>
        </p:spPr>
        <p:txBody>
          <a:bodyPr>
            <a:normAutofit/>
          </a:bodyPr>
          <a:lstStyle/>
          <a:p>
            <a:r>
              <a:rPr lang="en-IN" sz="2400" dirty="0"/>
              <a:t>This chart highlights the geographical distribution of leads across different cities. It helps identify high-potential markets and regional business opportunities.</a:t>
            </a:r>
          </a:p>
          <a:p>
            <a:r>
              <a:rPr lang="en-IN" sz="2400" dirty="0"/>
              <a:t>Delhi and Nagpur generated the highest number of leads, indicating strong customer demand in these regions. These cities could be prioritized for future sales campaigns.</a:t>
            </a:r>
            <a:endParaRPr sz="2400" dirty="0"/>
          </a:p>
        </p:txBody>
      </p:sp>
      <p:graphicFrame>
        <p:nvGraphicFramePr>
          <p:cNvPr id="5" name="Chart 4">
            <a:extLst>
              <a:ext uri="{FF2B5EF4-FFF2-40B4-BE49-F238E27FC236}">
                <a16:creationId xmlns:a16="http://schemas.microsoft.com/office/drawing/2014/main" id="{0AB42FFF-5F04-45A3-A4CD-9508F3B39CA4}"/>
              </a:ext>
            </a:extLst>
          </p:cNvPr>
          <p:cNvGraphicFramePr>
            <a:graphicFrameLocks/>
          </p:cNvGraphicFramePr>
          <p:nvPr>
            <p:extLst>
              <p:ext uri="{D42A27DB-BD31-4B8C-83A1-F6EECF244321}">
                <p14:modId xmlns:p14="http://schemas.microsoft.com/office/powerpoint/2010/main" val="2572899108"/>
              </p:ext>
            </p:extLst>
          </p:nvPr>
        </p:nvGraphicFramePr>
        <p:xfrm>
          <a:off x="1284051" y="3988337"/>
          <a:ext cx="5933873" cy="260475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52759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9185F-E7D6-067A-1992-0B677CF69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740D0-379E-C801-A1AF-E5207C85D9DC}"/>
              </a:ext>
            </a:extLst>
          </p:cNvPr>
          <p:cNvSpPr>
            <a:spLocks noGrp="1"/>
          </p:cNvSpPr>
          <p:nvPr>
            <p:ph type="title"/>
          </p:nvPr>
        </p:nvSpPr>
        <p:spPr/>
        <p:txBody>
          <a:bodyPr>
            <a:normAutofit/>
          </a:bodyPr>
          <a:lstStyle/>
          <a:p>
            <a:r>
              <a:rPr lang="en-IN" sz="2800" b="1" dirty="0"/>
              <a:t>LEADS BY PRODUCT INTEREST</a:t>
            </a:r>
            <a:endParaRPr sz="2800" b="1" dirty="0"/>
          </a:p>
        </p:txBody>
      </p:sp>
      <p:sp>
        <p:nvSpPr>
          <p:cNvPr id="3" name="Content Placeholder 2">
            <a:extLst>
              <a:ext uri="{FF2B5EF4-FFF2-40B4-BE49-F238E27FC236}">
                <a16:creationId xmlns:a16="http://schemas.microsoft.com/office/drawing/2014/main" id="{631788B5-41A6-3F54-FEF2-C2DEA7A80FE1}"/>
              </a:ext>
            </a:extLst>
          </p:cNvPr>
          <p:cNvSpPr>
            <a:spLocks noGrp="1"/>
          </p:cNvSpPr>
          <p:nvPr>
            <p:ph idx="1"/>
          </p:nvPr>
        </p:nvSpPr>
        <p:spPr>
          <a:xfrm>
            <a:off x="457200" y="1308368"/>
            <a:ext cx="8229600" cy="2670243"/>
          </a:xfrm>
        </p:spPr>
        <p:txBody>
          <a:bodyPr>
            <a:normAutofit/>
          </a:bodyPr>
          <a:lstStyle/>
          <a:p>
            <a:r>
              <a:rPr lang="en-IN" sz="2400" dirty="0"/>
              <a:t>This chart shows customer interest across different products and services. It helps understand market demand and prioritize sales efforts toward high-interest offerings.</a:t>
            </a:r>
          </a:p>
          <a:p>
            <a:r>
              <a:rPr lang="en-IN" sz="2400" dirty="0"/>
              <a:t>Online MBA and CRM Software attracted the highest customer interest, indicating strong market demand and future sales potential.</a:t>
            </a:r>
            <a:endParaRPr sz="2400" dirty="0"/>
          </a:p>
        </p:txBody>
      </p:sp>
      <p:graphicFrame>
        <p:nvGraphicFramePr>
          <p:cNvPr id="6" name="Chart 5">
            <a:extLst>
              <a:ext uri="{FF2B5EF4-FFF2-40B4-BE49-F238E27FC236}">
                <a16:creationId xmlns:a16="http://schemas.microsoft.com/office/drawing/2014/main" id="{2181BD72-9DF9-4889-81B0-8F19EAA8DC35}"/>
              </a:ext>
            </a:extLst>
          </p:cNvPr>
          <p:cNvGraphicFramePr>
            <a:graphicFrameLocks/>
          </p:cNvGraphicFramePr>
          <p:nvPr>
            <p:extLst>
              <p:ext uri="{D42A27DB-BD31-4B8C-83A1-F6EECF244321}">
                <p14:modId xmlns:p14="http://schemas.microsoft.com/office/powerpoint/2010/main" val="4146684467"/>
              </p:ext>
            </p:extLst>
          </p:nvPr>
        </p:nvGraphicFramePr>
        <p:xfrm>
          <a:off x="1536971" y="3998068"/>
          <a:ext cx="6079787" cy="26047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58405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839C3-433F-5FDE-73C7-4A9A9D7C4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A8F07-0DC8-6F53-5EC0-D879F68643AC}"/>
              </a:ext>
            </a:extLst>
          </p:cNvPr>
          <p:cNvSpPr>
            <a:spLocks noGrp="1"/>
          </p:cNvSpPr>
          <p:nvPr>
            <p:ph type="title"/>
          </p:nvPr>
        </p:nvSpPr>
        <p:spPr/>
        <p:txBody>
          <a:bodyPr>
            <a:normAutofit/>
          </a:bodyPr>
          <a:lstStyle/>
          <a:p>
            <a:r>
              <a:rPr lang="en-IN" sz="2800" dirty="0"/>
              <a:t>Potential Revenue by Product (INR)</a:t>
            </a:r>
            <a:endParaRPr sz="2800" b="1" dirty="0"/>
          </a:p>
        </p:txBody>
      </p:sp>
      <p:sp>
        <p:nvSpPr>
          <p:cNvPr id="3" name="Content Placeholder 2">
            <a:extLst>
              <a:ext uri="{FF2B5EF4-FFF2-40B4-BE49-F238E27FC236}">
                <a16:creationId xmlns:a16="http://schemas.microsoft.com/office/drawing/2014/main" id="{A6584288-54B6-DCEC-3967-5FBC17AEA751}"/>
              </a:ext>
            </a:extLst>
          </p:cNvPr>
          <p:cNvSpPr>
            <a:spLocks noGrp="1"/>
          </p:cNvSpPr>
          <p:nvPr>
            <p:ph idx="1"/>
          </p:nvPr>
        </p:nvSpPr>
        <p:spPr>
          <a:xfrm>
            <a:off x="457200" y="1308368"/>
            <a:ext cx="8229600" cy="2670243"/>
          </a:xfrm>
        </p:spPr>
        <p:txBody>
          <a:bodyPr>
            <a:normAutofit lnSpcReduction="10000"/>
          </a:bodyPr>
          <a:lstStyle/>
          <a:p>
            <a:r>
              <a:rPr lang="en-IN" sz="2400" dirty="0"/>
              <a:t>This chart highlights the revenue potential associated with each product category. It enables management to focus on products that contribute the highest business value.</a:t>
            </a:r>
          </a:p>
          <a:p>
            <a:r>
              <a:rPr lang="en-IN" sz="2400" dirty="0"/>
              <a:t>Although some products generated fewer leads they contributed significantly higher revenue potential. This indicates that lead quality is often more important than lead quantity.</a:t>
            </a:r>
            <a:endParaRPr sz="2400" dirty="0"/>
          </a:p>
        </p:txBody>
      </p:sp>
      <p:graphicFrame>
        <p:nvGraphicFramePr>
          <p:cNvPr id="4" name="Chart 3">
            <a:extLst>
              <a:ext uri="{FF2B5EF4-FFF2-40B4-BE49-F238E27FC236}">
                <a16:creationId xmlns:a16="http://schemas.microsoft.com/office/drawing/2014/main" id="{A9265AEC-05CB-4575-8379-C9AC273F5CE6}"/>
              </a:ext>
            </a:extLst>
          </p:cNvPr>
          <p:cNvGraphicFramePr>
            <a:graphicFrameLocks/>
          </p:cNvGraphicFramePr>
          <p:nvPr>
            <p:extLst>
              <p:ext uri="{D42A27DB-BD31-4B8C-83A1-F6EECF244321}">
                <p14:modId xmlns:p14="http://schemas.microsoft.com/office/powerpoint/2010/main" val="3852836431"/>
              </p:ext>
            </p:extLst>
          </p:nvPr>
        </p:nvGraphicFramePr>
        <p:xfrm>
          <a:off x="1673157" y="4127779"/>
          <a:ext cx="5797685" cy="245558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62240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4BBE6-03C1-A806-1550-0B6BE172C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73D93-0B19-4052-11B8-6840614243CB}"/>
              </a:ext>
            </a:extLst>
          </p:cNvPr>
          <p:cNvSpPr>
            <a:spLocks noGrp="1"/>
          </p:cNvSpPr>
          <p:nvPr>
            <p:ph type="title"/>
          </p:nvPr>
        </p:nvSpPr>
        <p:spPr/>
        <p:txBody>
          <a:bodyPr>
            <a:normAutofit/>
          </a:bodyPr>
          <a:lstStyle/>
          <a:p>
            <a:r>
              <a:rPr lang="en-IN" sz="2800" dirty="0"/>
              <a:t>Potential Revenue by Product (INR)</a:t>
            </a:r>
            <a:endParaRPr sz="2800" b="1" dirty="0"/>
          </a:p>
        </p:txBody>
      </p:sp>
      <p:sp>
        <p:nvSpPr>
          <p:cNvPr id="3" name="Content Placeholder 2">
            <a:extLst>
              <a:ext uri="{FF2B5EF4-FFF2-40B4-BE49-F238E27FC236}">
                <a16:creationId xmlns:a16="http://schemas.microsoft.com/office/drawing/2014/main" id="{6572833F-D1BF-EF5F-2021-22D696740F56}"/>
              </a:ext>
            </a:extLst>
          </p:cNvPr>
          <p:cNvSpPr>
            <a:spLocks noGrp="1"/>
          </p:cNvSpPr>
          <p:nvPr>
            <p:ph idx="1"/>
          </p:nvPr>
        </p:nvSpPr>
        <p:spPr>
          <a:xfrm>
            <a:off x="457200" y="1308368"/>
            <a:ext cx="8229600" cy="2670243"/>
          </a:xfrm>
        </p:spPr>
        <p:txBody>
          <a:bodyPr>
            <a:normAutofit/>
          </a:bodyPr>
          <a:lstStyle/>
          <a:p>
            <a:r>
              <a:rPr lang="en-IN" sz="2400" dirty="0"/>
              <a:t>Interactive Slicers are added based on the Lead_Source, Product Interest and Status.</a:t>
            </a:r>
          </a:p>
        </p:txBody>
      </p:sp>
      <p:pic>
        <p:nvPicPr>
          <p:cNvPr id="6" name="Graphic 5">
            <a:extLst>
              <a:ext uri="{FF2B5EF4-FFF2-40B4-BE49-F238E27FC236}">
                <a16:creationId xmlns:a16="http://schemas.microsoft.com/office/drawing/2014/main" id="{68EB5318-6B37-DC23-6D9B-AA85CD4F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2709860"/>
            <a:ext cx="2657475" cy="2352675"/>
          </a:xfrm>
          <a:prstGeom prst="rect">
            <a:avLst/>
          </a:prstGeom>
        </p:spPr>
      </p:pic>
      <p:pic>
        <p:nvPicPr>
          <p:cNvPr id="8" name="Graphic 7">
            <a:extLst>
              <a:ext uri="{FF2B5EF4-FFF2-40B4-BE49-F238E27FC236}">
                <a16:creationId xmlns:a16="http://schemas.microsoft.com/office/drawing/2014/main" id="{3A272795-9C95-1CEC-2A26-A87E4F854D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43262" y="2914141"/>
            <a:ext cx="2657475" cy="1819275"/>
          </a:xfrm>
          <a:prstGeom prst="rect">
            <a:avLst/>
          </a:prstGeom>
        </p:spPr>
      </p:pic>
      <p:pic>
        <p:nvPicPr>
          <p:cNvPr id="10" name="Graphic 9">
            <a:extLst>
              <a:ext uri="{FF2B5EF4-FFF2-40B4-BE49-F238E27FC236}">
                <a16:creationId xmlns:a16="http://schemas.microsoft.com/office/drawing/2014/main" id="{262808E9-F0A6-CEF4-DE65-1827D915ED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29324" y="2709860"/>
            <a:ext cx="2786063" cy="2182584"/>
          </a:xfrm>
          <a:prstGeom prst="rect">
            <a:avLst/>
          </a:prstGeom>
        </p:spPr>
      </p:pic>
    </p:spTree>
    <p:extLst>
      <p:ext uri="{BB962C8B-B14F-4D97-AF65-F5344CB8AC3E}">
        <p14:creationId xmlns:p14="http://schemas.microsoft.com/office/powerpoint/2010/main" val="1223778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D6237-011F-613F-3E13-0D036C53F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BDBEA-CC86-3A66-E6A3-FD095DCFE666}"/>
              </a:ext>
            </a:extLst>
          </p:cNvPr>
          <p:cNvSpPr>
            <a:spLocks noGrp="1"/>
          </p:cNvSpPr>
          <p:nvPr>
            <p:ph type="title"/>
          </p:nvPr>
        </p:nvSpPr>
        <p:spPr>
          <a:xfrm>
            <a:off x="457200" y="89811"/>
            <a:ext cx="8229600" cy="1143000"/>
          </a:xfrm>
        </p:spPr>
        <p:txBody>
          <a:bodyPr>
            <a:normAutofit/>
          </a:bodyPr>
          <a:lstStyle/>
          <a:p>
            <a:r>
              <a:rPr lang="en-IN" sz="2800" b="1" dirty="0"/>
              <a:t>SALES LEAD DASHBOARD</a:t>
            </a:r>
            <a:endParaRPr sz="2800" b="1" dirty="0"/>
          </a:p>
        </p:txBody>
      </p:sp>
      <p:pic>
        <p:nvPicPr>
          <p:cNvPr id="6" name="Content Placeholder 5">
            <a:extLst>
              <a:ext uri="{FF2B5EF4-FFF2-40B4-BE49-F238E27FC236}">
                <a16:creationId xmlns:a16="http://schemas.microsoft.com/office/drawing/2014/main" id="{63F58F67-ED1C-FD7D-C72C-1AE7FBBC5224}"/>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457200" y="1249731"/>
            <a:ext cx="8398213" cy="5479143"/>
          </a:xfrm>
          <a:prstGeom prst="rect">
            <a:avLst/>
          </a:prstGeom>
        </p:spPr>
      </p:pic>
    </p:spTree>
    <p:extLst>
      <p:ext uri="{BB962C8B-B14F-4D97-AF65-F5344CB8AC3E}">
        <p14:creationId xmlns:p14="http://schemas.microsoft.com/office/powerpoint/2010/main" val="2111516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Business Insights</a:t>
            </a:r>
          </a:p>
        </p:txBody>
      </p:sp>
      <p:sp>
        <p:nvSpPr>
          <p:cNvPr id="3" name="Content Placeholder 2"/>
          <p:cNvSpPr>
            <a:spLocks noGrp="1"/>
          </p:cNvSpPr>
          <p:nvPr>
            <p:ph idx="1"/>
          </p:nvPr>
        </p:nvSpPr>
        <p:spPr>
          <a:xfrm>
            <a:off x="457200" y="1417638"/>
            <a:ext cx="8229600" cy="4708525"/>
          </a:xfrm>
        </p:spPr>
        <p:txBody>
          <a:bodyPr>
            <a:normAutofit/>
          </a:bodyPr>
          <a:lstStyle/>
          <a:p>
            <a:pPr>
              <a:buFont typeface="Wingdings" panose="05000000000000000000" pitchFamily="2" charset="2"/>
              <a:buChar char="Ø"/>
            </a:pPr>
            <a:r>
              <a:rPr lang="en-IN" sz="2400" dirty="0"/>
              <a:t>Website and Google Ads were the strongest lead sources.</a:t>
            </a:r>
          </a:p>
          <a:p>
            <a:pPr>
              <a:buFont typeface="Wingdings" panose="05000000000000000000" pitchFamily="2" charset="2"/>
              <a:buChar char="Ø"/>
            </a:pPr>
            <a:r>
              <a:rPr lang="en-IN" sz="2400" dirty="0"/>
              <a:t>Most leads are currently in the Follow-Up stage, representing future conversion opportunities.</a:t>
            </a:r>
          </a:p>
          <a:p>
            <a:pPr>
              <a:buFont typeface="Wingdings" panose="05000000000000000000" pitchFamily="2" charset="2"/>
              <a:buChar char="Ø"/>
            </a:pPr>
            <a:r>
              <a:rPr lang="en-IN" sz="2400" dirty="0"/>
              <a:t>Lead generation increased steadily over the months.</a:t>
            </a:r>
          </a:p>
          <a:p>
            <a:pPr>
              <a:buFont typeface="Wingdings" panose="05000000000000000000" pitchFamily="2" charset="2"/>
              <a:buChar char="Ø"/>
            </a:pPr>
            <a:r>
              <a:rPr lang="en-IN" sz="2400" dirty="0"/>
              <a:t>Nagpur and Delhi emerged as key lead-generating cities.</a:t>
            </a:r>
          </a:p>
          <a:p>
            <a:pPr>
              <a:buFont typeface="Wingdings" panose="05000000000000000000" pitchFamily="2" charset="2"/>
              <a:buChar char="Ø"/>
            </a:pPr>
            <a:r>
              <a:rPr lang="en-IN" sz="2400" dirty="0"/>
              <a:t>Online MBA and CRM Software attracted the highest customer interest.</a:t>
            </a:r>
          </a:p>
          <a:p>
            <a:pPr>
              <a:buFont typeface="Wingdings" panose="05000000000000000000" pitchFamily="2" charset="2"/>
              <a:buChar char="Ø"/>
            </a:pPr>
            <a:r>
              <a:rPr lang="en-IN" sz="2400" dirty="0"/>
              <a:t>High value products contributed a major share of potential revenue.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Conclusion</a:t>
            </a:r>
          </a:p>
        </p:txBody>
      </p:sp>
      <p:sp>
        <p:nvSpPr>
          <p:cNvPr id="3" name="Content Placeholder 2"/>
          <p:cNvSpPr>
            <a:spLocks noGrp="1"/>
          </p:cNvSpPr>
          <p:nvPr>
            <p:ph idx="1"/>
          </p:nvPr>
        </p:nvSpPr>
        <p:spPr/>
        <p:txBody>
          <a:bodyPr>
            <a:normAutofit/>
          </a:bodyPr>
          <a:lstStyle/>
          <a:p>
            <a:pPr marL="0" indent="0">
              <a:buNone/>
            </a:pPr>
            <a:r>
              <a:rPr lang="en-IN" sz="2400" dirty="0"/>
              <a:t>The dashboard provides a comprehensive view of lead generation, sales pipeline performance, customer preferences and revenue opportunities. These insights support data-driven decision-making and help improve overall sales effectiveness.</a:t>
            </a:r>
            <a:endParaRPr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218</TotalTime>
  <Words>793</Words>
  <Application>Microsoft Office PowerPoint</Application>
  <PresentationFormat>On-screen Show (4:3)</PresentationFormat>
  <Paragraphs>79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vt:lpstr>
      <vt:lpstr>Office Theme</vt:lpstr>
      <vt:lpstr>Sales Lead Dashboard</vt:lpstr>
      <vt:lpstr>Introduction</vt:lpstr>
      <vt:lpstr>Dataset Information</vt:lpstr>
      <vt:lpstr>DATA CLEANING PROCESS</vt:lpstr>
      <vt:lpstr>Key Cards</vt:lpstr>
      <vt:lpstr>FORMULAS USED</vt:lpstr>
      <vt:lpstr>KPI WITH CHARTS</vt:lpstr>
      <vt:lpstr>LEADS BY SOURCE</vt:lpstr>
      <vt:lpstr>LEADS STATUS DISTRIBUTION</vt:lpstr>
      <vt:lpstr>MONTHLY LEAD TREND</vt:lpstr>
      <vt:lpstr>LEADS BY CITY</vt:lpstr>
      <vt:lpstr>LEADS BY PRODUCT INTEREST</vt:lpstr>
      <vt:lpstr>Potential Revenue by Product (INR)</vt:lpstr>
      <vt:lpstr>Potential Revenue by Product (INR)</vt:lpstr>
      <vt:lpstr>SALES LEAD DASHBOARD</vt:lpstr>
      <vt:lpstr>Business Insights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t26727</cp:lastModifiedBy>
  <cp:revision>33</cp:revision>
  <dcterms:created xsi:type="dcterms:W3CDTF">2013-01-27T09:14:16Z</dcterms:created>
  <dcterms:modified xsi:type="dcterms:W3CDTF">2026-09-15T17:47:47Z</dcterms:modified>
  <cp:category/>
</cp:coreProperties>
</file>